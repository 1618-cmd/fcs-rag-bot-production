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4"/>
  </p:sldMasterIdLst>
  <p:notesMasterIdLst>
    <p:notesMasterId r:id="rId19"/>
  </p:notesMasterIdLst>
  <p:handoutMasterIdLst>
    <p:handoutMasterId r:id="rId20"/>
  </p:handoutMasterIdLst>
  <p:sldIdLst>
    <p:sldId id="278" r:id="rId5"/>
    <p:sldId id="282" r:id="rId6"/>
    <p:sldId id="284" r:id="rId7"/>
    <p:sldId id="294" r:id="rId8"/>
    <p:sldId id="286" r:id="rId9"/>
    <p:sldId id="288" r:id="rId10"/>
    <p:sldId id="292" r:id="rId11"/>
    <p:sldId id="295" r:id="rId12"/>
    <p:sldId id="285" r:id="rId13"/>
    <p:sldId id="296" r:id="rId14"/>
    <p:sldId id="297" r:id="rId15"/>
    <p:sldId id="298" r:id="rId16"/>
    <p:sldId id="299" r:id="rId17"/>
    <p:sldId id="30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>
      <p:cViewPr varScale="1">
        <p:scale>
          <a:sx n="98" d="100"/>
          <a:sy n="98" d="100"/>
        </p:scale>
        <p:origin x="102" y="25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BC71B-6527-4638-937B-C93EB849CB02}" type="datetimeFigureOut">
              <a:rPr lang="en-US" smtClean="0"/>
              <a:t>1/23/2026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A70580-B89C-4157-871D-6B9318EE5F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465A2-8C9C-419F-9FD8-234480873777}" type="datetimeFigureOut">
              <a:rPr lang="en-US" smtClean="0"/>
              <a:t>1/23/2026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F00E9-A49D-4007-B3B9-A3783809E5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649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89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2FDD9-312F-1B73-9070-F9D85DB95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844FF7-FBAF-B2F7-F6A1-A29C6CCBF1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7ADE38-01C9-2083-1B6B-0F0008FA88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343F0-BC7B-63BD-3987-DDEB20BC44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3487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4889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056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B9B89-37AF-F17F-FAA5-FED7C8FFE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2AA0E7-A7D8-4473-045C-2752919584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69D5AC-F354-587F-0B2B-1E2661BFDA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26E83-CD8C-F89D-1516-838D857306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7948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CBA60-237A-23A4-9A46-4A8343AC9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F5F1EC-F222-6432-2A90-873F2C0F51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BC5D8A-CD65-2852-8262-B77A4E980D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541E53-1B4C-BC39-E6E9-E1B2B80DED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412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EB959-8C79-FD1B-DDCA-38CC538E9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D39039-700F-9BC7-C044-1E3C45AF2E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D847CA-5BE9-EEE5-F4B4-2C64C6807B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7EE10-26F1-1BBD-E6D2-9BFACAC4B0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49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62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23463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65650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89351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85868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413379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67432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48230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6735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30566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93063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4119266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43C4A872-A473-BFD2-150E-387250C2B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5C8D53B-A579-BCFA-58E8-C386DABC92CD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3A34CAC-4A03-ADDB-E97F-8675E68FC0B3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C733506-2F0D-8F31-52D1-5244F04A706B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9356E3D-E14C-9C43-7CE4-A7156B1E10DB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itle 19">
            <a:extLst>
              <a:ext uri="{FF2B5EF4-FFF2-40B4-BE49-F238E27FC236}">
                <a16:creationId xmlns:a16="http://schemas.microsoft.com/office/drawing/2014/main" id="{85C652DA-55F6-9691-4254-344E0A4E9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3924"/>
            <a:ext cx="11090275" cy="168405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4DB7AC4F-2818-7F0D-AC6A-736D5F2C73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0863" y="2419350"/>
            <a:ext cx="11090274" cy="39131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C61DF04-D7CB-2B19-8BB9-3E90A6619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10824" y="1514007"/>
            <a:ext cx="734257" cy="760506"/>
            <a:chOff x="5243759" y="1363788"/>
            <a:chExt cx="734257" cy="760506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DE1CC00-F893-E215-8086-65B6605C5F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EBF50D9-F9B8-ADB3-8B4A-AF19564EE6E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0BE1060-7183-58F8-EEBF-64135EE82BC5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597A3BE-0D13-9033-E3FD-78202DB79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168304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8867D9A-3F3B-94C3-244B-0006226A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063019" y="3199533"/>
            <a:ext cx="3597052" cy="2615018"/>
            <a:chOff x="4541453" y="3199533"/>
            <a:chExt cx="3597052" cy="2615018"/>
          </a:xfrm>
        </p:grpSpPr>
        <p:sp>
          <p:nvSpPr>
            <p:cNvPr id="13" name="Freeform: Shape 38">
              <a:extLst>
                <a:ext uri="{FF2B5EF4-FFF2-40B4-BE49-F238E27FC236}">
                  <a16:creationId xmlns:a16="http://schemas.microsoft.com/office/drawing/2014/main" id="{955FC3D1-6227-A188-CCDB-11D573FD807A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E6BE70E-C41E-449D-A48C-4EB6BB7DC20D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5" name="Freeform: Shape 32">
                <a:extLst>
                  <a:ext uri="{FF2B5EF4-FFF2-40B4-BE49-F238E27FC236}">
                    <a16:creationId xmlns:a16="http://schemas.microsoft.com/office/drawing/2014/main" id="{B7C0B12B-49BE-7855-18FB-8583C8DD961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7C78A37-D378-70D3-D6E3-AB9400EB583E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2491172-466F-19CC-B639-A1C3CAB1D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90545" y="4100655"/>
            <a:ext cx="1335600" cy="1262947"/>
            <a:chOff x="10145015" y="2343978"/>
            <a:chExt cx="1335600" cy="1262947"/>
          </a:xfrm>
        </p:grpSpPr>
        <p:sp>
          <p:nvSpPr>
            <p:cNvPr id="18" name="Freeform: Shape 25">
              <a:extLst>
                <a:ext uri="{FF2B5EF4-FFF2-40B4-BE49-F238E27FC236}">
                  <a16:creationId xmlns:a16="http://schemas.microsoft.com/office/drawing/2014/main" id="{45EC885D-265C-397B-5DAF-57A66CDA30B5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601DB21-D937-2F89-DC26-063DFC7800C8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076535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87E98C0-6053-9701-92D0-4EF9ADBC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9063019" y="746716"/>
            <a:ext cx="3597052" cy="2615018"/>
            <a:chOff x="4541453" y="3199533"/>
            <a:chExt cx="3597052" cy="2615018"/>
          </a:xfrm>
        </p:grpSpPr>
        <p:sp>
          <p:nvSpPr>
            <p:cNvPr id="8" name="Freeform: Shape 38">
              <a:extLst>
                <a:ext uri="{FF2B5EF4-FFF2-40B4-BE49-F238E27FC236}">
                  <a16:creationId xmlns:a16="http://schemas.microsoft.com/office/drawing/2014/main" id="{C32B1A1D-760B-9D3D-A869-E50FC962A629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02EF78B-5BDF-8632-B9B1-087DB042EEC7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0" name="Freeform: Shape 32">
                <a:extLst>
                  <a:ext uri="{FF2B5EF4-FFF2-40B4-BE49-F238E27FC236}">
                    <a16:creationId xmlns:a16="http://schemas.microsoft.com/office/drawing/2014/main" id="{5C54B3E8-515B-0865-9321-DB3793A6224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6E92718-2CCD-B15D-8DE5-46285BEA256B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A0B78B-84F0-8B85-40E8-678689DC1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723112" y="5088958"/>
            <a:ext cx="1335600" cy="1262947"/>
            <a:chOff x="10145015" y="2343978"/>
            <a:chExt cx="1335600" cy="1262947"/>
          </a:xfrm>
        </p:grpSpPr>
        <p:sp>
          <p:nvSpPr>
            <p:cNvPr id="20" name="Freeform: Shape 25">
              <a:extLst>
                <a:ext uri="{FF2B5EF4-FFF2-40B4-BE49-F238E27FC236}">
                  <a16:creationId xmlns:a16="http://schemas.microsoft.com/office/drawing/2014/main" id="{2E5D7C6F-BF77-9B7D-5B12-7AF3ED280B43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A599EE6-2673-0AD8-EAE0-45C79326015E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4000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63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6D26C0-4AFC-33CC-99BE-317E9A84435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76680"/>
            <a:ext cx="9144000" cy="2286000"/>
          </a:xfrm>
        </p:spPr>
        <p:txBody>
          <a:bodyPr anchor="b">
            <a:no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99840"/>
            <a:ext cx="9144000" cy="228600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994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08635"/>
            <a:ext cx="11090274" cy="13320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2097175"/>
            <a:ext cx="5435600" cy="399565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B65629D-0977-C0EA-5E0B-C4822F43DAE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5540" y="2097175"/>
            <a:ext cx="5435600" cy="399565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9829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974" y="196900"/>
            <a:ext cx="4899628" cy="2331490"/>
          </a:xfrm>
        </p:spPr>
        <p:txBody>
          <a:bodyPr anchor="b" anchorCtr="0">
            <a:noAutofit/>
          </a:bodyPr>
          <a:lstStyle>
            <a:lvl1pPr algn="r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3162" y="2827209"/>
            <a:ext cx="4917440" cy="3442144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algn="r">
              <a:defRPr sz="1200">
                <a:solidFill>
                  <a:schemeClr val="tx1"/>
                </a:solidFill>
              </a:defRPr>
            </a:lvl2pPr>
            <a:lvl3pPr algn="r">
              <a:defRPr sz="1200">
                <a:solidFill>
                  <a:schemeClr val="tx1"/>
                </a:solidFill>
              </a:defRPr>
            </a:lvl3pPr>
            <a:lvl4pPr algn="r">
              <a:defRPr sz="1200">
                <a:solidFill>
                  <a:schemeClr val="tx1"/>
                </a:solidFill>
              </a:defRPr>
            </a:lvl4pPr>
            <a:lvl5pPr algn="r"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588" y="0"/>
            <a:ext cx="609599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904CD02-7C7D-28DD-85A8-2FD92C29D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FB7341D0-DC30-9661-B3E0-91DE7C37946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92A118B5-9F91-EA1B-3F95-6BFA5095544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208891A5-91FA-D924-CB46-E74B50635001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E5F7483-2261-D4C4-30E3-2D379D8CA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473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E57989ED-9663-5033-AA83-267069FC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36" y="549274"/>
            <a:ext cx="5179330" cy="284182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5400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537" y="3646704"/>
            <a:ext cx="5179330" cy="270616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3pPr>
            <a:lvl4pPr marL="13716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4pPr>
            <a:lvl5pPr marL="18288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392876F-0BBD-F80A-DE7F-8831AD3BF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6138" y="549275"/>
            <a:ext cx="5654675" cy="5788025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4E08E8E-10CB-55BC-8AFF-E64C800B9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0" name="Freeform: Shape 15">
              <a:extLst>
                <a:ext uri="{FF2B5EF4-FFF2-40B4-BE49-F238E27FC236}">
                  <a16:creationId xmlns:a16="http://schemas.microsoft.com/office/drawing/2014/main" id="{B439260B-AC6B-1C83-1A63-058A7E7EFCC9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ADD32DC-9BAF-DA32-4E29-A6D403E04377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739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0587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21" r:id="rId14"/>
    <p:sldLayoutId id="2147483722" r:id="rId15"/>
    <p:sldLayoutId id="2147483723" r:id="rId16"/>
    <p:sldLayoutId id="2147483724" r:id="rId17"/>
    <p:sldLayoutId id="2147483728" r:id="rId1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ctr">
            <a:noAutofit/>
          </a:bodyPr>
          <a:lstStyle/>
          <a:p>
            <a:r>
              <a:rPr lang="en-US" dirty="0"/>
              <a:t>FCS – ALEX</a:t>
            </a:r>
            <a:br>
              <a:rPr lang="en-US" dirty="0"/>
            </a:br>
            <a:br>
              <a:rPr lang="en-US" dirty="0"/>
            </a:br>
            <a:r>
              <a:rPr lang="en-GB" sz="2000" dirty="0"/>
              <a:t>FCS RAG Bot Component Architecture</a:t>
            </a:r>
            <a:br>
              <a:rPr lang="en-GB" sz="2000" dirty="0"/>
            </a:br>
            <a:br>
              <a:rPr lang="en-GB" sz="2000" dirty="0"/>
            </a:br>
            <a:r>
              <a:rPr lang="en-GB" sz="2000" dirty="0"/>
              <a:t>Author: Miles Waite</a:t>
            </a:r>
            <a:br>
              <a:rPr lang="en-GB" sz="2000" dirty="0"/>
            </a:br>
            <a:br>
              <a:rPr lang="en-GB" sz="2000" dirty="0"/>
            </a:br>
            <a:r>
              <a:rPr lang="en-GB" sz="2000" dirty="0"/>
              <a:t>January 2026</a:t>
            </a:r>
            <a:endParaRPr lang="en-US" sz="2000" dirty="0"/>
          </a:p>
        </p:txBody>
      </p:sp>
      <p:pic>
        <p:nvPicPr>
          <p:cNvPr id="8" name="Picture Placeholder 13" descr="Data points digital background">
            <a:extLst>
              <a:ext uri="{FF2B5EF4-FFF2-40B4-BE49-F238E27FC236}">
                <a16:creationId xmlns:a16="http://schemas.microsoft.com/office/drawing/2014/main" id="{53227D59-33F9-9DDB-1C5C-A938A989EE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r="7936"/>
          <a:stretch/>
        </p:blipFill>
        <p:spPr/>
      </p:pic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5BE93-0252-3CC3-B567-14EC47EB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222" y="-842030"/>
            <a:ext cx="11090275" cy="1684059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CA07C-1908-B1EB-82FA-EC63DAAF4CF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8223" y="1239774"/>
            <a:ext cx="11090274" cy="4795266"/>
          </a:xfrm>
        </p:spPr>
        <p:txBody>
          <a:bodyPr>
            <a:normAutofit fontScale="850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Front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Backend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RAG Pipeline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Vector </a:t>
            </a:r>
            <a:r>
              <a:rPr lang="en-US" dirty="0" err="1"/>
              <a:t>Qdrant</a:t>
            </a:r>
            <a:r>
              <a:rPr lang="en-US" dirty="0"/>
              <a:t> Cloud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LLM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Embeddings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Cache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Monitoring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Knowledge 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Summary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045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2343A-9CB0-F2AD-EF62-5DEE3E97F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Frontend (Next.js/</a:t>
            </a:r>
            <a:r>
              <a:rPr lang="en-US" dirty="0" err="1"/>
              <a:t>Vercel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744DD-5BC8-42C8-4313-13CE95ED5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Purpose:  User interface for the RAG bot chat application</a:t>
            </a:r>
          </a:p>
          <a:p>
            <a:pPr marL="0" indent="0">
              <a:buNone/>
            </a:pPr>
            <a:r>
              <a:rPr lang="en-US" dirty="0"/>
              <a:t>Technology</a:t>
            </a:r>
          </a:p>
          <a:p>
            <a:r>
              <a:rPr lang="en-US" dirty="0"/>
              <a:t>Next.js 15 (React framework)</a:t>
            </a:r>
          </a:p>
          <a:p>
            <a:r>
              <a:rPr lang="en-US" dirty="0"/>
              <a:t>React 19 (UI library)</a:t>
            </a:r>
          </a:p>
          <a:p>
            <a:r>
              <a:rPr lang="en-US" dirty="0"/>
              <a:t>TypeScript</a:t>
            </a:r>
          </a:p>
          <a:p>
            <a:r>
              <a:rPr lang="en-US" dirty="0"/>
              <a:t>Tailwind CSS (styling)</a:t>
            </a:r>
          </a:p>
          <a:p>
            <a:r>
              <a:rPr lang="en-US" dirty="0"/>
              <a:t>Deployed on </a:t>
            </a:r>
            <a:r>
              <a:rPr lang="en-US" dirty="0" err="1"/>
              <a:t>Vercel</a:t>
            </a:r>
            <a:r>
              <a:rPr lang="en-US" dirty="0"/>
              <a:t> (hosting)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841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3FF0F-0D0D-167B-1386-646DC5630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C48A6-3384-2405-BA8D-BC4A54FB7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Frontend (Next.js/</a:t>
            </a:r>
            <a:r>
              <a:rPr lang="en-US" dirty="0" err="1"/>
              <a:t>Vercel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FB3CE-52EE-3439-54E5-8C5517692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it does:</a:t>
            </a:r>
          </a:p>
          <a:p>
            <a:r>
              <a:rPr lang="en-US" dirty="0"/>
              <a:t>Provides a chat interface where users can ask questions</a:t>
            </a:r>
          </a:p>
          <a:p>
            <a:r>
              <a:rPr lang="en-US" dirty="0"/>
              <a:t>Displays bot responses with source citations</a:t>
            </a:r>
          </a:p>
          <a:p>
            <a:r>
              <a:rPr lang="en-US" dirty="0"/>
              <a:t>Handles user authentication and session management</a:t>
            </a:r>
          </a:p>
          <a:p>
            <a:r>
              <a:rPr lang="en-US" dirty="0"/>
              <a:t>Sends API requests to the backend and displays streaming responses</a:t>
            </a:r>
          </a:p>
          <a:p>
            <a:r>
              <a:rPr lang="en-US" dirty="0"/>
              <a:t>Includes features like message history, copy buttons, and feedback mechanisms</a:t>
            </a:r>
          </a:p>
          <a:p>
            <a:r>
              <a:rPr lang="en-US" dirty="0"/>
              <a:t>Responsive design that works on desktop and mobile devices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535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6CC09F-7383-3A4C-555C-35DA0BB4B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Backend (</a:t>
            </a:r>
            <a:r>
              <a:rPr lang="en-US" dirty="0" err="1"/>
              <a:t>FastAPI</a:t>
            </a:r>
            <a:r>
              <a:rPr lang="en-US" dirty="0"/>
              <a:t>/Render)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E7E655-DBBE-1E38-D543-EB34028F2F2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1500" dirty="0"/>
              <a:t>Purpose:  API server that processes user queries and coordinates the RAG pipeline</a:t>
            </a:r>
          </a:p>
          <a:p>
            <a:r>
              <a:rPr lang="en-US" sz="1500" dirty="0"/>
              <a:t>Technology: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00" dirty="0" err="1"/>
              <a:t>FastAPI</a:t>
            </a:r>
            <a:r>
              <a:rPr lang="en-GB" sz="1500" dirty="0"/>
              <a:t> (Python web framework)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00" dirty="0"/>
              <a:t>Python 3.11+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00" dirty="0"/>
              <a:t>Deployed on Render or Railway (cloud hosting)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00" dirty="0" err="1"/>
              <a:t>Uvicorn</a:t>
            </a:r>
            <a:r>
              <a:rPr lang="en-GB" sz="1500" dirty="0"/>
              <a:t> (ASGI server)</a:t>
            </a:r>
          </a:p>
          <a:p>
            <a:pPr lvl="1"/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45A03A5-6D4D-7072-B3BD-F2DA38CADEB0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What it does:</a:t>
            </a:r>
          </a:p>
          <a:p>
            <a:r>
              <a:rPr lang="en-GB" dirty="0"/>
              <a:t>Receives HTTP requests from the frontend</a:t>
            </a:r>
          </a:p>
          <a:p>
            <a:r>
              <a:rPr lang="en-GB" dirty="0"/>
              <a:t>Handles authentication using JWT tokens</a:t>
            </a:r>
          </a:p>
          <a:p>
            <a:r>
              <a:rPr lang="en-GB" dirty="0"/>
              <a:t>Manages rate limiting to prevent abuse</a:t>
            </a:r>
          </a:p>
          <a:p>
            <a:r>
              <a:rPr lang="en-GB" dirty="0"/>
              <a:t>Routes queries to the RAG pipeline</a:t>
            </a:r>
          </a:p>
          <a:p>
            <a:r>
              <a:rPr lang="en-GB" dirty="0"/>
              <a:t>Logs all queries and responses to PostgreSQL</a:t>
            </a:r>
          </a:p>
          <a:p>
            <a:r>
              <a:rPr lang="en-GB" dirty="0"/>
              <a:t>Implements caching layer with Redis</a:t>
            </a:r>
          </a:p>
          <a:p>
            <a:r>
              <a:rPr lang="en-GB" dirty="0"/>
              <a:t>Provides RESTful API endpoints for query, ingestion, and admin functions</a:t>
            </a:r>
          </a:p>
          <a:p>
            <a:r>
              <a:rPr lang="en-GB" dirty="0"/>
              <a:t>Handles error tracking and monitoring integration</a:t>
            </a:r>
          </a:p>
        </p:txBody>
      </p:sp>
    </p:spTree>
    <p:extLst>
      <p:ext uri="{BB962C8B-B14F-4D97-AF65-F5344CB8AC3E}">
        <p14:creationId xmlns:p14="http://schemas.microsoft.com/office/powerpoint/2010/main" val="233018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06B59-80B8-CEED-0BCA-BC3F80A85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3C2F317-81E4-3678-2FF2-495B3A95470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A7C6D33A-37B7-D2C4-2C1C-6D5253D0D480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8145A95-72C3-9BFC-32D2-908F235E389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176" y="200256"/>
            <a:ext cx="5724144" cy="818462"/>
          </a:xfrm>
          <a:noFill/>
        </p:spPr>
        <p:txBody>
          <a:bodyPr anchor="b"/>
          <a:lstStyle/>
          <a:p>
            <a:r>
              <a:rPr lang="en-US" dirty="0"/>
              <a:t>Vector DB (</a:t>
            </a:r>
            <a:r>
              <a:rPr lang="en-US" dirty="0" err="1"/>
              <a:t>Qdrant</a:t>
            </a:r>
            <a:r>
              <a:rPr lang="en-US" dirty="0"/>
              <a:t> Cloud)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245988"/>
            <a:ext cx="9109478" cy="5301116"/>
          </a:xfrm>
          <a:noFill/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600" dirty="0"/>
              <a:t>Purpose: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Stores document embeddings for fast semantic  similarity search </a:t>
            </a:r>
          </a:p>
          <a:p>
            <a:pPr algn="l"/>
            <a:r>
              <a:rPr lang="en-US" sz="1600" dirty="0"/>
              <a:t>Technology: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 err="1"/>
              <a:t>Qdrant</a:t>
            </a:r>
            <a:r>
              <a:rPr lang="en-US" sz="1200" dirty="0"/>
              <a:t> Cloud (managed vector database)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Vector similarity search (cosine distance)</a:t>
            </a:r>
          </a:p>
          <a:p>
            <a:pPr algn="l"/>
            <a:r>
              <a:rPr lang="en-US" sz="1600" dirty="0"/>
              <a:t>What it does: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   Stores document chunks as high-dimensional vectors (1536 dimensions)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   Enables fast similarity search to find relevant documents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fr-FR" sz="1200" dirty="0"/>
              <a:t>   Maintains metadata (source file names, chunk positions)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300" dirty="0"/>
              <a:t>Supports collection management and updates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300" dirty="0"/>
              <a:t>Provides cloud-based infrastructure with automatic scaling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300" dirty="0"/>
              <a:t>Allows retrieval of top K most similar documents in milliseconds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300" dirty="0"/>
              <a:t>Handles millions of document vectors efficiently</a:t>
            </a:r>
          </a:p>
          <a:p>
            <a:pPr algn="l"/>
            <a:endParaRPr lang="en-US" sz="1600" dirty="0"/>
          </a:p>
        </p:txBody>
      </p:sp>
      <p:pic>
        <p:nvPicPr>
          <p:cNvPr id="20" name="Picture Placeholder 19" descr="A close-up of a graph">
            <a:extLst>
              <a:ext uri="{FF2B5EF4-FFF2-40B4-BE49-F238E27FC236}">
                <a16:creationId xmlns:a16="http://schemas.microsoft.com/office/drawing/2014/main" id="{A7019768-5E2A-F9D1-62D6-EC7C5F0BBE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" r="9"/>
          <a:stretch/>
        </p:blipFill>
        <p:spPr/>
      </p:pic>
    </p:spTree>
    <p:extLst>
      <p:ext uri="{BB962C8B-B14F-4D97-AF65-F5344CB8AC3E}">
        <p14:creationId xmlns:p14="http://schemas.microsoft.com/office/powerpoint/2010/main" val="414523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Placeholder 24" descr="A close-up of a network">
            <a:extLst>
              <a:ext uri="{FF2B5EF4-FFF2-40B4-BE49-F238E27FC236}">
                <a16:creationId xmlns:a16="http://schemas.microsoft.com/office/drawing/2014/main" id="{41A1C574-72C6-642F-E4D2-FF0C993AEF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"/>
          <a:stretch/>
        </p:blipFill>
        <p:spPr/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DF07456-0684-F217-C628-0E9855E97247}"/>
              </a:ext>
            </a:extLst>
          </p:cNvPr>
          <p:cNvSpPr txBox="1">
            <a:spLocks/>
          </p:cNvSpPr>
          <p:nvPr/>
        </p:nvSpPr>
        <p:spPr>
          <a:xfrm>
            <a:off x="265176" y="200256"/>
            <a:ext cx="5724144" cy="818462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LLM (OpenAI GPT-4o)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1FFE33E-B28B-8852-BAF2-6822F9B60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007608"/>
            <a:ext cx="9109478" cy="5850391"/>
          </a:xfrm>
          <a:noFill/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l"/>
            <a:r>
              <a:rPr lang="en-US" sz="1600" dirty="0"/>
              <a:t>Purpose: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100" dirty="0"/>
              <a:t>Generates natural language responses based on retrieved context</a:t>
            </a:r>
          </a:p>
          <a:p>
            <a:pPr algn="l"/>
            <a:r>
              <a:rPr lang="en-US" sz="1600" dirty="0"/>
              <a:t>Technology: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100" dirty="0"/>
              <a:t>OpenAI GPT-4o (large language model)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100" dirty="0"/>
              <a:t>Chat completion API</a:t>
            </a:r>
          </a:p>
          <a:p>
            <a:pPr algn="l"/>
            <a:r>
              <a:rPr lang="en-US" sz="1600" dirty="0"/>
              <a:t>What it does: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Receives user questions along with retrieved document context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Follows detailed system prompts with anti-hallucination rules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Synthesizes information from multiple documents when needed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Generates accurate, well-formatted answer with proper citations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Handles complex queries requiring multi-step reasoning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Provides code examples in </a:t>
            </a:r>
            <a:r>
              <a:rPr lang="en-US" sz="1100" dirty="0" err="1"/>
              <a:t>VenaQL</a:t>
            </a:r>
            <a:r>
              <a:rPr lang="en-US" sz="1100" dirty="0"/>
              <a:t> when requested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Refuses to answer when context is insufficient prevents hallucination)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Returns responses in markdown format with code blocks and formatting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dirty="0"/>
          </a:p>
          <a:p>
            <a:pPr algn="l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47630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98E4F1-A0D0-1957-EDA7-251B2CD2C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E99C746-5125-C291-D656-8BCC6FFF7741}"/>
              </a:ext>
            </a:extLst>
          </p:cNvPr>
          <p:cNvSpPr txBox="1">
            <a:spLocks/>
          </p:cNvSpPr>
          <p:nvPr/>
        </p:nvSpPr>
        <p:spPr>
          <a:xfrm>
            <a:off x="6198868" y="-900146"/>
            <a:ext cx="6814197" cy="199785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4800" dirty="0"/>
              <a:t>Embeddings (OpenAI)</a:t>
            </a:r>
          </a:p>
        </p:txBody>
      </p:sp>
      <p:pic>
        <p:nvPicPr>
          <p:cNvPr id="25" name="Picture Placeholder 24" descr="A close-up of a network">
            <a:extLst>
              <a:ext uri="{FF2B5EF4-FFF2-40B4-BE49-F238E27FC236}">
                <a16:creationId xmlns:a16="http://schemas.microsoft.com/office/drawing/2014/main" id="{50117216-7687-D2F0-ED62-2092C0D0008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"/>
          <a:stretch/>
        </p:blipFill>
        <p:spPr>
          <a:xfrm>
            <a:off x="553403" y="824417"/>
            <a:ext cx="5092062" cy="5209165"/>
          </a:xfrm>
          <a:custGeom>
            <a:avLst/>
            <a:gdLst/>
            <a:ahLst/>
            <a:cxnLst/>
            <a:rect l="l" t="t" r="r" b="b"/>
            <a:pathLst>
              <a:path w="5092062" h="5759450">
                <a:moveTo>
                  <a:pt x="0" y="0"/>
                </a:moveTo>
                <a:lnTo>
                  <a:pt x="5092062" y="0"/>
                </a:lnTo>
                <a:lnTo>
                  <a:pt x="5092062" y="5759450"/>
                </a:lnTo>
                <a:lnTo>
                  <a:pt x="0" y="5759450"/>
                </a:lnTo>
                <a:close/>
              </a:path>
            </a:pathLst>
          </a:cu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0483413-3027-6D5E-4F64-795A859BD876}"/>
              </a:ext>
            </a:extLst>
          </p:cNvPr>
          <p:cNvSpPr txBox="1">
            <a:spLocks/>
          </p:cNvSpPr>
          <p:nvPr/>
        </p:nvSpPr>
        <p:spPr>
          <a:xfrm>
            <a:off x="6198868" y="1097709"/>
            <a:ext cx="9109478" cy="585039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Purpose: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/>
              <a:t> Converts text into numerical vectors that capture semantic meaning</a:t>
            </a:r>
          </a:p>
          <a:p>
            <a:r>
              <a:rPr lang="en-US" sz="1600" dirty="0"/>
              <a:t>Technology: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/>
              <a:t>OpenAI text-embedding-3-small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/>
              <a:t>15356 dimensional vectors</a:t>
            </a:r>
          </a:p>
          <a:p>
            <a:r>
              <a:rPr lang="en-US" sz="1600" dirty="0"/>
              <a:t>What it does: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Converts user queries into vector embeddings for search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Converts knowledge base documents into embeddings during ingestion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Enables semantic similarity matching (similar meanings = similar vectors)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Processors text in chunks to handle long documents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Provides consistent vector representations for the same text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Powers the semantic search that finds relevant context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Works with both queries and documents to enable retrieval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44278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7" descr="Data Points Digital background">
            <a:extLst>
              <a:ext uri="{FF2B5EF4-FFF2-40B4-BE49-F238E27FC236}">
                <a16:creationId xmlns:a16="http://schemas.microsoft.com/office/drawing/2014/main" id="{1358CD3B-43A8-5BF7-2E60-B0563F068D1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A84D4AF-8D29-5A55-F3F8-1E928E3B0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5243" y="451148"/>
            <a:ext cx="9144000" cy="812476"/>
          </a:xfrm>
        </p:spPr>
        <p:txBody>
          <a:bodyPr/>
          <a:lstStyle/>
          <a:p>
            <a:r>
              <a:rPr lang="en-US" dirty="0"/>
              <a:t>Database (PostgreSQL)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6450744F-A4B6-FD90-F6DA-4EF9A192E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140" y="1098254"/>
            <a:ext cx="11715345" cy="5594376"/>
          </a:xfrm>
        </p:spPr>
        <p:txBody>
          <a:bodyPr/>
          <a:lstStyle/>
          <a:p>
            <a:pPr algn="l"/>
            <a:r>
              <a:rPr lang="en-US" sz="1400" dirty="0"/>
              <a:t>Purpose: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Stores persistent data including user accounts, query logs, and conversation history</a:t>
            </a:r>
          </a:p>
          <a:p>
            <a:pPr algn="l"/>
            <a:r>
              <a:rPr lang="en-US" sz="1400" dirty="0"/>
              <a:t>Technology: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PostgreSQL (relational database) &amp; </a:t>
            </a:r>
            <a:r>
              <a:rPr lang="en-US" sz="1200" dirty="0" err="1"/>
              <a:t>SQLAlchemy</a:t>
            </a:r>
            <a:r>
              <a:rPr lang="en-US" sz="1200" dirty="0"/>
              <a:t> (ORM)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Deployed on Render</a:t>
            </a:r>
          </a:p>
          <a:p>
            <a:pPr algn="l"/>
            <a:r>
              <a:rPr lang="en-US" sz="1400" dirty="0"/>
              <a:t>What it does: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Stores user accounts with email, password hashes, roles, and tenant IDs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Logs all queries with timestamps, questions, answers, and sources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Maintains conversation history for users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Tracks query performance metrics (latency, cache hits)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Stores feedback data (positive/negative responses)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Manages tenant/</a:t>
            </a:r>
            <a:r>
              <a:rPr lang="en-US" sz="1200" dirty="0" err="1"/>
              <a:t>organisation</a:t>
            </a:r>
            <a:r>
              <a:rPr lang="en-US" sz="1200" dirty="0"/>
              <a:t> data for multi-tenant support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Provides data persistence for analytics, auditing &amp; GDPR compliance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dirty="0"/>
          </a:p>
          <a:p>
            <a:pPr algn="l"/>
            <a:endParaRPr lang="en-US" sz="1200" dirty="0"/>
          </a:p>
          <a:p>
            <a:pPr algn="l"/>
            <a:endParaRPr lang="en-US" sz="1200" dirty="0"/>
          </a:p>
          <a:p>
            <a:pPr algn="l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55514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42754-A476-338E-17CE-4E744E6AB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7" descr="Data Points Digital background">
            <a:extLst>
              <a:ext uri="{FF2B5EF4-FFF2-40B4-BE49-F238E27FC236}">
                <a16:creationId xmlns:a16="http://schemas.microsoft.com/office/drawing/2014/main" id="{AF2B6205-CD90-BCA0-A170-004BB2CB54F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224D507-46EB-BD8F-D2A3-0103C404CF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5243" y="451148"/>
            <a:ext cx="9144000" cy="812476"/>
          </a:xfrm>
        </p:spPr>
        <p:txBody>
          <a:bodyPr/>
          <a:lstStyle/>
          <a:p>
            <a:r>
              <a:rPr lang="en-US"/>
              <a:t>Cache (Redis)</a:t>
            </a:r>
            <a:endParaRPr lang="en-US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4599AE03-FA86-A6A3-D3F7-37DDE2456D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140" y="1098254"/>
            <a:ext cx="11715345" cy="5594376"/>
          </a:xfrm>
        </p:spPr>
        <p:txBody>
          <a:bodyPr/>
          <a:lstStyle/>
          <a:p>
            <a:pPr algn="l"/>
            <a:r>
              <a:rPr lang="en-US" sz="1400"/>
              <a:t>Purpose: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/>
              <a:t>Speeds up responses by caching frequently asked questions</a:t>
            </a:r>
          </a:p>
          <a:p>
            <a:pPr algn="l"/>
            <a:r>
              <a:rPr lang="en-US" sz="1400"/>
              <a:t>Technology: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/>
              <a:t>Redis (in-memory data store)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/>
              <a:t>Key-value caching TTL</a:t>
            </a:r>
          </a:p>
          <a:p>
            <a:pPr algn="l"/>
            <a:r>
              <a:rPr lang="en-US" sz="1400"/>
              <a:t>What it does: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/>
              <a:t>Stores query responses in memory for fast retrieval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/>
              <a:t>Reduces API calls to OpenAI (saves costs and improves latency)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/>
              <a:t>Caches both RAG responses and Vena API data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/>
              <a:t>Implements time-to-live (TTL) for cache expiration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/>
              <a:t>Handles cache invalidation when knowledge base updates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/>
              <a:t>Provides sub-millisecond response times for cached queries</a:t>
            </a:r>
          </a:p>
          <a:p>
            <a:pPr algn="l"/>
            <a:endParaRPr lang="en-US" sz="1200"/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/>
          </a:p>
          <a:p>
            <a:pPr algn="l"/>
            <a:endParaRPr lang="en-US" sz="1200"/>
          </a:p>
          <a:p>
            <a:pPr algn="l"/>
            <a:endParaRPr lang="en-US" sz="1200"/>
          </a:p>
          <a:p>
            <a:pPr algn="l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42069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61A9C-0DD2-FACA-0DAC-476C77D9B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D4950A0-01C0-159C-5BCC-E5EEAA874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1633555-FE9A-71E5-C876-D62E907C58D0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2F549A4-AF83-A77F-489D-E6A6AB841915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F2D5D4C-910A-202F-3693-5F2FF8E08C5E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4AD9F1F-D4CA-6971-320F-D298096BE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176" y="200256"/>
            <a:ext cx="5724144" cy="818462"/>
          </a:xfrm>
          <a:noFill/>
        </p:spPr>
        <p:txBody>
          <a:bodyPr anchor="b"/>
          <a:lstStyle/>
          <a:p>
            <a:r>
              <a:rPr lang="en-US" dirty="0"/>
              <a:t>Monitoring(Sentry)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B463F-EBDA-22F2-0DFC-2A63DCDCED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245988"/>
            <a:ext cx="9109478" cy="5301116"/>
          </a:xfrm>
          <a:noFill/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600" dirty="0"/>
              <a:t>Purpose: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Tracks errors and performance issues in production</a:t>
            </a:r>
          </a:p>
          <a:p>
            <a:pPr algn="l"/>
            <a:r>
              <a:rPr lang="en-US" sz="1600" dirty="0"/>
              <a:t>Technology: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Sentry (error tracking platform)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Performance monitoring</a:t>
            </a:r>
          </a:p>
          <a:p>
            <a:pPr algn="l"/>
            <a:r>
              <a:rPr lang="en-US" sz="1600" dirty="0"/>
              <a:t>What it does: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   Stores document chunks as high-dimensional vectors (1536 dimensions)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   Enables fast similarity search to find relevant documents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fr-FR" sz="1200" dirty="0"/>
              <a:t>   Maintains metadata (source file names, chunk positions)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300" dirty="0"/>
              <a:t>Supports collection management and updates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300" dirty="0"/>
              <a:t>Provides cloud-based infrastructure with automatic scaling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300" dirty="0"/>
              <a:t>Allows retrieval of top K most similar documents in milliseconds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300" dirty="0"/>
              <a:t>Handles millions of document vectors efficiently</a:t>
            </a:r>
          </a:p>
          <a:p>
            <a:pPr algn="l"/>
            <a:endParaRPr lang="en-US" sz="1600" dirty="0"/>
          </a:p>
        </p:txBody>
      </p:sp>
      <p:pic>
        <p:nvPicPr>
          <p:cNvPr id="20" name="Picture Placeholder 19" descr="A close-up of a graph">
            <a:extLst>
              <a:ext uri="{FF2B5EF4-FFF2-40B4-BE49-F238E27FC236}">
                <a16:creationId xmlns:a16="http://schemas.microsoft.com/office/drawing/2014/main" id="{3CFBEB8F-C78B-988F-D23A-C13E047405A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" r="9"/>
          <a:stretch/>
        </p:blipFill>
        <p:spPr/>
      </p:pic>
    </p:spTree>
    <p:extLst>
      <p:ext uri="{BB962C8B-B14F-4D97-AF65-F5344CB8AC3E}">
        <p14:creationId xmlns:p14="http://schemas.microsoft.com/office/powerpoint/2010/main" val="1078276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99E53-EE40-C64A-1EBF-79D221A3C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D830CD6-045C-3A8C-F492-44496390C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0315FFF-46FA-45CA-4AAE-93CD22A39831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927FC85C-E9A5-5107-5D5C-E8C4D55D6E9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841F2CD-8C46-E3C3-7892-A19F7DCC4CA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0C941D0-65FC-E195-2288-3D67D37C2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176" y="200256"/>
            <a:ext cx="5724144" cy="818462"/>
          </a:xfrm>
          <a:noFill/>
        </p:spPr>
        <p:txBody>
          <a:bodyPr anchor="b"/>
          <a:lstStyle/>
          <a:p>
            <a:r>
              <a:rPr lang="en-US" dirty="0"/>
              <a:t>Knowledge 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CC304-8441-35BE-2A8A-804AA44274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245988"/>
            <a:ext cx="9109478" cy="5301116"/>
          </a:xfrm>
          <a:noFill/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l"/>
            <a:r>
              <a:rPr lang="en-US" sz="1600" dirty="0"/>
              <a:t>Purpose: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Source documentation that the bot uses </a:t>
            </a:r>
            <a:r>
              <a:rPr lang="en-US" sz="1200" dirty="0" err="1"/>
              <a:t>ot</a:t>
            </a:r>
            <a:r>
              <a:rPr lang="en-US" sz="1200" dirty="0"/>
              <a:t> answer questions</a:t>
            </a:r>
          </a:p>
          <a:p>
            <a:pPr algn="l"/>
            <a:r>
              <a:rPr lang="en-US" sz="1600" dirty="0"/>
              <a:t>Technology: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Markdown (.md) files – Text (.txt) files – PDF stored in local filesystem or AWS S3</a:t>
            </a:r>
          </a:p>
          <a:p>
            <a:pPr algn="l"/>
            <a:r>
              <a:rPr lang="en-US" sz="1600" dirty="0"/>
              <a:t>What it does: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   Contains Vena platform documentation and guides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   Includes technical specifications and configuration examples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fr-FR" sz="1200" dirty="0"/>
              <a:t>   Provides troubkleshooting infomration and error code references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300" dirty="0"/>
              <a:t>Stores </a:t>
            </a:r>
            <a:r>
              <a:rPr lang="en-US" sz="1300" dirty="0" err="1"/>
              <a:t>VenaQL</a:t>
            </a:r>
            <a:r>
              <a:rPr lang="en-US" sz="1300" dirty="0"/>
              <a:t> syntax examples and best practices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300" dirty="0" err="1"/>
              <a:t>Organised</a:t>
            </a:r>
            <a:r>
              <a:rPr lang="en-US" sz="1300" dirty="0"/>
              <a:t> in hierarchical folder structure and id to create embeddings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300" dirty="0"/>
              <a:t>Chunked into smaller pieces for better retrieval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300" dirty="0"/>
              <a:t>Continuously updated as new documentation is added</a:t>
            </a:r>
          </a:p>
          <a:p>
            <a:pPr algn="l"/>
            <a:endParaRPr lang="en-US" sz="1600" dirty="0"/>
          </a:p>
        </p:txBody>
      </p:sp>
      <p:pic>
        <p:nvPicPr>
          <p:cNvPr id="20" name="Picture Placeholder 19" descr="A close-up of a graph">
            <a:extLst>
              <a:ext uri="{FF2B5EF4-FFF2-40B4-BE49-F238E27FC236}">
                <a16:creationId xmlns:a16="http://schemas.microsoft.com/office/drawing/2014/main" id="{46CA4F05-C2B9-ED30-1DDE-A4AC324CFA4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" r="9"/>
          <a:stretch/>
        </p:blipFill>
        <p:spPr/>
      </p:pic>
    </p:spTree>
    <p:extLst>
      <p:ext uri="{BB962C8B-B14F-4D97-AF65-F5344CB8AC3E}">
        <p14:creationId xmlns:p14="http://schemas.microsoft.com/office/powerpoint/2010/main" val="1853776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1F9F5-B7D9-547E-54F1-22174E8E0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7" descr="Data Points Digital background">
            <a:extLst>
              <a:ext uri="{FF2B5EF4-FFF2-40B4-BE49-F238E27FC236}">
                <a16:creationId xmlns:a16="http://schemas.microsoft.com/office/drawing/2014/main" id="{BDF5FBFA-EE95-3EFD-150E-CCC1F0BA520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2E92DB80-068E-0586-A47D-A4934C4C2E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5243" y="451148"/>
            <a:ext cx="10567480" cy="812476"/>
          </a:xfrm>
        </p:spPr>
        <p:txBody>
          <a:bodyPr/>
          <a:lstStyle/>
          <a:p>
            <a:r>
              <a:rPr lang="en-US" dirty="0"/>
              <a:t>How components work together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A14AC28E-31DC-962F-2FB8-B68C4F411D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327" y="1714772"/>
            <a:ext cx="11715345" cy="4403926"/>
          </a:xfrm>
        </p:spPr>
        <p:txBody>
          <a:bodyPr/>
          <a:lstStyle/>
          <a:p>
            <a:pPr algn="l"/>
            <a:r>
              <a:rPr lang="en-US" sz="1400" dirty="0"/>
              <a:t>The complete flow </a:t>
            </a:r>
            <a:endParaRPr lang="en-US" sz="1200" dirty="0"/>
          </a:p>
          <a:p>
            <a:pPr algn="l"/>
            <a:r>
              <a:rPr lang="en-GB" sz="1200" b="1" dirty="0"/>
              <a:t>User asks a question</a:t>
            </a:r>
            <a:r>
              <a:rPr lang="en-GB" sz="1200" dirty="0"/>
              <a:t> → Frontend sends request to Backend API</a:t>
            </a:r>
          </a:p>
          <a:p>
            <a:pPr algn="l"/>
            <a:r>
              <a:rPr lang="en-GB" sz="1200" b="1" dirty="0"/>
              <a:t>Backend checks cache</a:t>
            </a:r>
            <a:r>
              <a:rPr lang="en-GB" sz="1200" dirty="0"/>
              <a:t> → Redis returns cached response if available</a:t>
            </a:r>
          </a:p>
          <a:p>
            <a:pPr algn="l"/>
            <a:r>
              <a:rPr lang="en-GB" sz="1200" b="1" dirty="0"/>
              <a:t>If cache miss</a:t>
            </a:r>
            <a:r>
              <a:rPr lang="en-GB" sz="1200" dirty="0"/>
              <a:t> → Backend triggers RAG Pipeline</a:t>
            </a:r>
          </a:p>
          <a:p>
            <a:pPr algn="l"/>
            <a:r>
              <a:rPr lang="en-GB" sz="1200" b="1" dirty="0"/>
              <a:t>RAG Pipeline embeds query</a:t>
            </a:r>
            <a:r>
              <a:rPr lang="en-GB" sz="1200" dirty="0"/>
              <a:t> → OpenAI Embeddings converts question to vector</a:t>
            </a:r>
          </a:p>
          <a:p>
            <a:pPr algn="l"/>
            <a:r>
              <a:rPr lang="en-GB" sz="1200" b="1" dirty="0"/>
              <a:t>Vector search</a:t>
            </a:r>
            <a:r>
              <a:rPr lang="en-GB" sz="1200" dirty="0"/>
              <a:t> → </a:t>
            </a:r>
            <a:r>
              <a:rPr lang="en-GB" sz="1200" dirty="0" err="1"/>
              <a:t>Qdrant</a:t>
            </a:r>
            <a:r>
              <a:rPr lang="en-GB" sz="1200" dirty="0"/>
              <a:t> finds top K similar document chunks</a:t>
            </a:r>
          </a:p>
          <a:p>
            <a:pPr algn="l"/>
            <a:r>
              <a:rPr lang="en-GB" sz="1200" b="1" dirty="0"/>
              <a:t>Context formatting</a:t>
            </a:r>
            <a:r>
              <a:rPr lang="en-GB" sz="1200" dirty="0"/>
              <a:t> → RAG Pipeline formats retrieved documents</a:t>
            </a:r>
          </a:p>
          <a:p>
            <a:pPr algn="l"/>
            <a:r>
              <a:rPr lang="en-GB" sz="1200" b="1" dirty="0"/>
              <a:t>LLM generation</a:t>
            </a:r>
            <a:r>
              <a:rPr lang="en-GB" sz="1200" dirty="0"/>
              <a:t> → GPT-4o generates answer using context + system prompt</a:t>
            </a:r>
          </a:p>
          <a:p>
            <a:pPr algn="l"/>
            <a:r>
              <a:rPr lang="en-GB" sz="1200" b="1" dirty="0"/>
              <a:t>Response returned</a:t>
            </a:r>
            <a:r>
              <a:rPr lang="en-GB" sz="1200" dirty="0"/>
              <a:t> → Backend sends answer + sources to Frontend</a:t>
            </a:r>
          </a:p>
          <a:p>
            <a:pPr algn="l"/>
            <a:r>
              <a:rPr lang="en-GB" sz="1200" b="1" dirty="0"/>
              <a:t>Logging</a:t>
            </a:r>
            <a:r>
              <a:rPr lang="en-GB" sz="1200" dirty="0"/>
              <a:t> → Query logged to PostgreSQL for analytics</a:t>
            </a:r>
          </a:p>
          <a:p>
            <a:pPr algn="l"/>
            <a:r>
              <a:rPr lang="en-GB" sz="1200" b="1" dirty="0"/>
              <a:t>Caching</a:t>
            </a:r>
            <a:r>
              <a:rPr lang="en-GB" sz="1200" dirty="0"/>
              <a:t> → Response cached in Redis for future requests</a:t>
            </a:r>
          </a:p>
          <a:p>
            <a:pPr algn="l"/>
            <a:endParaRPr lang="en-US" sz="1200" dirty="0"/>
          </a:p>
          <a:p>
            <a:pPr algn="l"/>
            <a:endParaRPr lang="en-US" sz="12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dirty="0"/>
          </a:p>
          <a:p>
            <a:pPr algn="l"/>
            <a:endParaRPr lang="en-US" sz="1200" dirty="0"/>
          </a:p>
          <a:p>
            <a:pPr algn="l"/>
            <a:endParaRPr lang="en-US" sz="1200" dirty="0"/>
          </a:p>
          <a:p>
            <a:pPr algn="l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17757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8CF3B-59DD-B064-1BAB-051986FBA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7" descr="Data Points Digital background">
            <a:extLst>
              <a:ext uri="{FF2B5EF4-FFF2-40B4-BE49-F238E27FC236}">
                <a16:creationId xmlns:a16="http://schemas.microsoft.com/office/drawing/2014/main" id="{D79C5DCB-AC12-5A69-E6A6-5A09CA0BB10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0399E2B-F1DE-6E05-91E7-50BA67B6F0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5243" y="451148"/>
            <a:ext cx="10567480" cy="812476"/>
          </a:xfrm>
        </p:spPr>
        <p:txBody>
          <a:bodyPr/>
          <a:lstStyle/>
          <a:p>
            <a:r>
              <a:rPr lang="en-US" dirty="0"/>
              <a:t>Benefits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55DB93E-EEFA-6688-4B55-350C0E07D5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327" y="1714772"/>
            <a:ext cx="11715345" cy="4403926"/>
          </a:xfrm>
        </p:spPr>
        <p:txBody>
          <a:bodyPr/>
          <a:lstStyle/>
          <a:p>
            <a:r>
              <a:rPr lang="en-US" sz="1400" b="1" dirty="0"/>
              <a:t>Key Benefits: </a:t>
            </a:r>
            <a:r>
              <a:rPr lang="en-US" sz="1400" dirty="0"/>
              <a:t>Fast responses through caching and parallel processing</a:t>
            </a:r>
          </a:p>
          <a:p>
            <a:r>
              <a:rPr lang="en-US" sz="1400" dirty="0"/>
              <a:t>Accurate answers grounded in knowledge base documents</a:t>
            </a:r>
          </a:p>
          <a:p>
            <a:r>
              <a:rPr lang="en-US" sz="1400" dirty="0"/>
              <a:t>Scalable architecture with cloud-hosted components</a:t>
            </a:r>
          </a:p>
          <a:p>
            <a:r>
              <a:rPr lang="en-US" sz="1400" dirty="0"/>
              <a:t>Comprehensive monitoring and error tracking</a:t>
            </a:r>
          </a:p>
          <a:p>
            <a:r>
              <a:rPr lang="en-US" sz="1400" dirty="0"/>
              <a:t>Cost-effective through intelligent caching</a:t>
            </a:r>
          </a:p>
          <a:p>
            <a:r>
              <a:rPr lang="en-US" sz="1400" dirty="0"/>
              <a:t>This architecture enables the RAG bot to provide accurate, source-cited answers while maintaining high performance and reliability.</a:t>
            </a:r>
            <a:endParaRPr lang="en-US" sz="1200" dirty="0"/>
          </a:p>
          <a:p>
            <a:pPr algn="l"/>
            <a:endParaRPr lang="en-US" sz="12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dirty="0"/>
          </a:p>
          <a:p>
            <a:pPr algn="l"/>
            <a:endParaRPr lang="en-US" sz="1200" dirty="0"/>
          </a:p>
          <a:p>
            <a:pPr algn="l"/>
            <a:endParaRPr lang="en-US" sz="1200" dirty="0"/>
          </a:p>
          <a:p>
            <a:pPr algn="l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12774186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9F4F135A1C6B47BE23518D68CB5196" ma:contentTypeVersion="1" ma:contentTypeDescription="Create a new document." ma:contentTypeScope="" ma:versionID="7910bb5ea17c5f32bf14065b28447623">
  <xsd:schema xmlns:xsd="http://www.w3.org/2001/XMLSchema" xmlns:xs="http://www.w3.org/2001/XMLSchema" xmlns:p="http://schemas.microsoft.com/office/2006/metadata/properties" xmlns:ns3="e7d05cd9-1f4d-4f20-a4de-9b99c15e0f93" targetNamespace="http://schemas.microsoft.com/office/2006/metadata/properties" ma:root="true" ma:fieldsID="b089ad1eadef4f2b07dc5e72be71a01b" ns3:_="">
    <xsd:import namespace="e7d05cd9-1f4d-4f20-a4de-9b99c15e0f9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d05cd9-1f4d-4f20-a4de-9b99c15e0f9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342EE1-43E5-4AFB-895D-B61B9656DC14}">
  <ds:schemaRefs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microsoft.com/office/2006/metadata/properties"/>
    <ds:schemaRef ds:uri="http://www.w3.org/XML/1998/namespace"/>
    <ds:schemaRef ds:uri="http://purl.org/dc/elements/1.1/"/>
    <ds:schemaRef ds:uri="e7d05cd9-1f4d-4f20-a4de-9b99c15e0f93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7C70DFF4-AC9E-43B0-9F88-70DBA5AC72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7d05cd9-1f4d-4f20-a4de-9b99c15e0f9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{6BBF43FE-A171-4A4C-893B-2515DDD47BC5}TF7eddf224-c89c-478f-8f2f-bfb086892169e70e2347_win32-b3bdf7c6e0ee</Template>
  <TotalTime>632</TotalTime>
  <Words>1047</Words>
  <Application>Microsoft Office PowerPoint</Application>
  <PresentationFormat>Widescreen</PresentationFormat>
  <Paragraphs>192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Gill Sans MT</vt:lpstr>
      <vt:lpstr>Walbaum Display</vt:lpstr>
      <vt:lpstr>3DFloatVTI</vt:lpstr>
      <vt:lpstr>FCS – ALEX  FCS RAG Bot Component Architecture  Author: Miles Waite  January 2026</vt:lpstr>
      <vt:lpstr>Agenda</vt:lpstr>
      <vt:lpstr>Frontend (Next.js/Vercel)</vt:lpstr>
      <vt:lpstr>Frontend (Next.js/Vercel)</vt:lpstr>
      <vt:lpstr>Backend (FastAPI/Render)</vt:lpstr>
      <vt:lpstr>Vector DB (Qdrant Cloud)</vt:lpstr>
      <vt:lpstr>PowerPoint Presentation</vt:lpstr>
      <vt:lpstr>PowerPoint Presentation</vt:lpstr>
      <vt:lpstr>Database (PostgreSQL)</vt:lpstr>
      <vt:lpstr>Cache (Redis)</vt:lpstr>
      <vt:lpstr>Monitoring(Sentry)</vt:lpstr>
      <vt:lpstr>Knowledge Base</vt:lpstr>
      <vt:lpstr>How components work together</vt:lpstr>
      <vt:lpstr>Benefits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Miles Waite</dc:creator>
  <cp:lastModifiedBy>Miles Waite</cp:lastModifiedBy>
  <cp:revision>4</cp:revision>
  <dcterms:created xsi:type="dcterms:W3CDTF">2026-01-23T09:05:45Z</dcterms:created>
  <dcterms:modified xsi:type="dcterms:W3CDTF">2026-01-23T19:37:53Z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0x0101001A9F4F135A1C6B47BE23518D68CB5196</vt:lpwstr>
  </property>
  <property fmtid="{D5CDD505-2E9C-101B-9397-08002B2CF9AE}" pid="3" name="MediaServiceImageTags">
    <vt:lpwstr/>
  </property>
</Properties>
</file>